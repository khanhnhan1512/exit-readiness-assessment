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567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05844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B4C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Readiness Assessment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651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Quick Start Guide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on Base44 Platform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5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1-Minute Overview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45720"/>
          </a:xfrm>
          <a:prstGeom prst="rect">
            <a:avLst/>
          </a:prstGeom>
          <a:solidFill>
            <a:srgbClr val="05B4C9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" name="Text 2"/>
          <p:cNvSpPr/>
          <p:nvPr/>
        </p:nvSpPr>
        <p:spPr>
          <a:xfrm>
            <a:off x="914400" y="10972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A3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10 questions, 4 answer options each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5087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A3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 scoring dimensions (Financial, Operational, Strategic)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19202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A3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 readiness bands (Red → Green)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3317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A3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Client-side scoring (no backend needed)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7432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A3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Results page with strengths, gaps, timeline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1A3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A scored readiness profile (0–100) with color-coded interpretation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5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Build Checklist: Quiz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45720"/>
          </a:xfrm>
          <a:prstGeom prst="rect">
            <a:avLst/>
          </a:prstGeom>
          <a:solidFill>
            <a:srgbClr val="05B4C9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3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Form with 10 questions, one per screen (or paginated)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3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Radio button for each answer option (4 per question)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3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Store answers in component state (session-only)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3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"Next" button enables after selection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3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Progress bar (1/10, 2/10, ... 10/10)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9260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3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After Q10: Calculate scores and show results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5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Build Checklist: Results Page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45720"/>
          </a:xfrm>
          <a:prstGeom prst="rect">
            <a:avLst/>
          </a:prstGeom>
          <a:solidFill>
            <a:srgbClr val="05B4C9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3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Overall score in large circle/gauge with color band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3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Three dimension cards (Financial, Operational, Strategic)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3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Strengths list (auto-generated from high-scoring Q's)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3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Gaps list (auto-generated from low-scoring Q's)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3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Timeline recommendation based on overall score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9260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3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Two CTAs: "Discuss Results" + "Retake Assessment"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5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Formula (Client-Side)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914400" y="1097280"/>
            <a:ext cx="731520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5B4C9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" name="Text 2"/>
          <p:cNvSpPr/>
          <p:nvPr/>
        </p:nvSpPr>
        <p:spPr>
          <a:xfrm>
            <a:off x="1188720" y="1234440"/>
            <a:ext cx="6766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32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Financial = (Q1 + Q2 + Q5 + Q8 + Q9) / 15 × 100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A32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Operational = (Q3 + Q4 + Q10) / 9 × 100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A32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Strategic = (Q6 + Q7) / 6 × 100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14400" y="2468880"/>
            <a:ext cx="7315200" cy="1371600"/>
          </a:xfrm>
          <a:prstGeom prst="rect">
            <a:avLst/>
          </a:prstGeom>
          <a:solidFill>
            <a:srgbClr val="05B4C9"/>
          </a:solidFill>
          <a:ln w="25400">
            <a:solidFill>
              <a:srgbClr val="05B4C9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" name="Text 4"/>
          <p:cNvSpPr/>
          <p:nvPr/>
        </p:nvSpPr>
        <p:spPr>
          <a:xfrm>
            <a:off x="1188720" y="2651760"/>
            <a:ext cx="6766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Overall = (Financial × 0.50) + (Operational × 0.30) + (Strategic × 0.20)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4023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A3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0–100 score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5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Readiness Bands (Aspen Brand Colors)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45720"/>
          </a:xfrm>
          <a:prstGeom prst="rect">
            <a:avLst/>
          </a:prstGeom>
          <a:solidFill>
            <a:srgbClr val="05B4C9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457200" cy="320040"/>
          </a:xfrm>
          <a:prstGeom prst="rect">
            <a:avLst/>
          </a:prstGeom>
          <a:solidFill>
            <a:srgbClr val="05B4C9"/>
          </a:solidFill>
          <a:ln w="12700">
            <a:solidFill>
              <a:srgbClr val="05B4C9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1280160" y="109728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3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80–100: Exit Ready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457200" cy="320040"/>
          </a:xfrm>
          <a:prstGeom prst="rect">
            <a:avLst/>
          </a:prstGeom>
          <a:solidFill>
            <a:srgbClr val="05B4C9"/>
          </a:solidFill>
          <a:ln w="12700">
            <a:solidFill>
              <a:srgbClr val="05B4C9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Text 5"/>
          <p:cNvSpPr/>
          <p:nvPr/>
        </p:nvSpPr>
        <p:spPr>
          <a:xfrm>
            <a:off x="1280160" y="150876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3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65–79: Mostly Ready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1920240"/>
            <a:ext cx="457200" cy="320040"/>
          </a:xfrm>
          <a:prstGeom prst="rect">
            <a:avLst/>
          </a:prstGeom>
          <a:solidFill>
            <a:srgbClr val="1A322F"/>
          </a:solidFill>
          <a:ln w="12700">
            <a:solidFill>
              <a:srgbClr val="1A322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1280160" y="192024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3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50–64: Partially Ready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2331720"/>
            <a:ext cx="457200" cy="320040"/>
          </a:xfrm>
          <a:prstGeom prst="rect">
            <a:avLst/>
          </a:prstGeom>
          <a:solidFill>
            <a:srgbClr val="1A322F"/>
          </a:solidFill>
          <a:ln w="12700">
            <a:solidFill>
              <a:srgbClr val="1A322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/>
          <p:nvPr/>
        </p:nvSpPr>
        <p:spPr>
          <a:xfrm>
            <a:off x="1280160" y="233172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3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35–49: Limited Readiness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2743200"/>
            <a:ext cx="457200" cy="32004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1280160" y="274320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3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0–34: Not Ready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5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10 Questions (Questions 1–5)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45720"/>
          </a:xfrm>
          <a:prstGeom prst="rect">
            <a:avLst/>
          </a:prstGeom>
          <a:solidFill>
            <a:srgbClr val="05B4C9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3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Q1 (Financial): State of financial records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3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Q2 (Financial): Revenue concentration / diversification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164592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3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Q3 (Operational): Owner dependency level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196596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3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Q4 (Operational): Operational documentation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228600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3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Q5 (Financial): Profit margin &amp; EBITDA stability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A3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(See full spec document for all answer options)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5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10 Questions (Questions 6–10)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45720"/>
          </a:xfrm>
          <a:prstGeom prst="rect">
            <a:avLst/>
          </a:prstGeom>
          <a:solidFill>
            <a:srgbClr val="05B4C9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3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Q6 (Strategic): Post-exit personal plan clarity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3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Q7 (Strategic): Tax structure knowledge (share vs. asset)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164592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3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Q8 (Financial): Performance vs. industry benchmarks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196596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3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Q9 (Financial): Quality of earnings (add-backs)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228600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3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Q10 (Operational): Regulatory &amp; compliance exposure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1A3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question: 4 options × 0, 1, 2, or 3 points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5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 Mapping (for Dynamic Content)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45720"/>
          </a:xfrm>
          <a:prstGeom prst="rect">
            <a:avLst/>
          </a:prstGeom>
          <a:solidFill>
            <a:srgbClr val="05B4C9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(50% weight)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0" y="11887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3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Q1, Q2, Q5, Q8, Q9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(30% weight)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0" y="1737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3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Q3, Q4, Q10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2860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(20% weight)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0" y="22860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3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Q6, Q7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3931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1A3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dimension scores to auto-generate interpretation &amp; key insights on results page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5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Phases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45720"/>
          </a:xfrm>
          <a:prstGeom prst="rect">
            <a:avLst/>
          </a:prstGeom>
          <a:solidFill>
            <a:srgbClr val="05B4C9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7863840" cy="548640"/>
          </a:xfrm>
          <a:prstGeom prst="rect">
            <a:avLst/>
          </a:prstGeom>
          <a:solidFill>
            <a:srgbClr val="F5F5F5"/>
          </a:solidFill>
          <a:ln w="12700">
            <a:solidFill>
              <a:srgbClr val="05B4C9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914400" y="126187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MVP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926080" y="1261872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3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quiz + scoring + results (2-3 weeks)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920240"/>
            <a:ext cx="7863840" cy="548640"/>
          </a:xfrm>
          <a:prstGeom prst="rect">
            <a:avLst/>
          </a:prstGeom>
          <a:solidFill>
            <a:srgbClr val="F5F5F5"/>
          </a:solidFill>
          <a:ln w="12700">
            <a:solidFill>
              <a:srgbClr val="05B4C9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8" name="Text 6"/>
          <p:cNvSpPr/>
          <p:nvPr/>
        </p:nvSpPr>
        <p:spPr>
          <a:xfrm>
            <a:off x="914400" y="199339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Enhancement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926080" y="1993392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3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Gauge, timeline, email capture (1-2 weeks)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2651760"/>
            <a:ext cx="7863840" cy="548640"/>
          </a:xfrm>
          <a:prstGeom prst="rect">
            <a:avLst/>
          </a:prstGeom>
          <a:solidFill>
            <a:srgbClr val="F5F5F5"/>
          </a:solidFill>
          <a:ln w="12700">
            <a:solidFill>
              <a:srgbClr val="05B4C9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/>
          <p:nvPr/>
        </p:nvSpPr>
        <p:spPr>
          <a:xfrm>
            <a:off x="914400" y="272491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3: Advanced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926080" y="2724912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3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export, analytics, back button (2-3 weeks)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5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Aspen Brand Requirements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45720"/>
          </a:xfrm>
          <a:prstGeom prst="rect">
            <a:avLst/>
          </a:prstGeom>
          <a:solidFill>
            <a:srgbClr val="05B4C9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3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Colors: Blue Teal (#05B4C9) &amp; Dark Green (#1A322F)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3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Typography: DIN Next LT Pro (or Arial fallback)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3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Logo: Include Aspen primary logo in page header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3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Slogan: "KNOW YOUR WORTH" on results page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74320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3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Tone: Professional, authoritative, empowering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315468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3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Disclaimer: Indicate this is not a formal opinion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32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Start: Questions for Yen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CTA endpoint: Where should "Discuss Your Results" redirect?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150876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Email capture: Required for lead gen or optional?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PDF export: Phase 1 (MVP) or Phase 2?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33172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Analytics: Track score distribution &amp; CTA engagement?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74320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Timeline: When do you want Phase 1 ready for testing?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5B4C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Build!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21945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specification document available in Word format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10 questions • Scoring formulas • UI/UX guidelines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Contact Yen (yen.dang@aspenval.com)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732</Words>
  <Application>Microsoft Office PowerPoint</Application>
  <PresentationFormat>On-screen Show (16:9)</PresentationFormat>
  <Paragraphs>95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Yen Dang</cp:lastModifiedBy>
  <cp:revision>1</cp:revision>
  <dcterms:created xsi:type="dcterms:W3CDTF">2026-09-12T04:42:00Z</dcterms:created>
  <dcterms:modified xsi:type="dcterms:W3CDTF">2026-09-12T04:50:40Z</dcterms:modified>
</cp:coreProperties>
</file>